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PBmJxPZRFJdgrbaR+bBwpEu1T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 – Portada. Presentar equipo y contexto. ~30 seg.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 – Cliente. ~45 seg.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 – Problemas. ~1.5 min.</a:t>
            </a:r>
            <a:endParaRPr/>
          </a:p>
        </p:txBody>
      </p:sp>
      <p:sp>
        <p:nvSpPr>
          <p:cNvPr id="68" name="Google Shape;6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 – Solución. ~1 min.</a:t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5 – Metodología Scrum. ~45 seg.</a:t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6 – Funcionalidades. ~1 min.</a:t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08126cddb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08126cddb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7 – Arquitectura. Spring Boot en AWS, WordPress en Google Cloud, MariaDB en Google Cloud, PostgreSQL en Neon. 3 plugins propios. Lioren API para SII. ~2 min.</a:t>
            </a:r>
            <a:endParaRPr/>
          </a:p>
        </p:txBody>
      </p:sp>
      <p:sp>
        <p:nvSpPr>
          <p:cNvPr id="195" name="Google Shape;195;g3f08126cddb_2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 – Impacto. ~1 min.</a:t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9 – Demo. ~30 seg y luego iniciar demo.</a:t>
            </a:r>
            <a:endParaRPr/>
          </a:p>
        </p:txBody>
      </p:sp>
      <p:sp>
        <p:nvSpPr>
          <p:cNvPr id="309" name="Google Shape;3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303520" y="-2011680"/>
            <a:ext cx="6400800" cy="6400800"/>
          </a:xfrm>
          <a:prstGeom prst="ellipse">
            <a:avLst/>
          </a:prstGeom>
          <a:solidFill>
            <a:srgbClr val="34D399">
              <a:alpha val="7843"/>
            </a:srgbClr>
          </a:solidFill>
          <a:ln cap="flat" cmpd="sng" w="12700">
            <a:solidFill>
              <a:srgbClr val="34D399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059669">
              <a:alpha val="12156"/>
            </a:srgbClr>
          </a:solidFill>
          <a:ln cap="flat" cmpd="sng" w="12700">
            <a:solidFill>
              <a:srgbClr val="059669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01168"/>
            <a:ext cx="2011680" cy="45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" name="Google Shape;1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502920"/>
            <a:ext cx="292608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PROYECTO DE TÍTULO · 202</a:t>
            </a:r>
            <a:r>
              <a:rPr b="1" lang="en-US" sz="9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353312"/>
            <a:ext cx="5943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NexTech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606040"/>
            <a:ext cx="6400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Transformación Digital para RS Tech Chile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273552"/>
            <a:ext cx="2926080" cy="36576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345643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Renato Ortega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57200" y="37673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Fullstack &amp; Infraestructura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00400" y="345643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Alex Caica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200400" y="37673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Scrum Master &amp; Fullstack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43600" y="3456432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Ángel Prado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43600" y="3767328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Fullstack &amp; Diseño UI/UX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480060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F3F46"/>
                </a:solidFill>
                <a:latin typeface="Calibri"/>
                <a:ea typeface="Calibri"/>
                <a:cs typeface="Calibri"/>
                <a:sym typeface="Calibri"/>
              </a:rPr>
              <a:t>Docente: Jorge Alejandro Gómez Flores  ·  Sección 004V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272A"/>
          </a:solidFill>
          <a:ln cap="flat" cmpd="sng" w="127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NUESTRO CLIENTE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RS Tech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1704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¿Quiénes son?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155448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RS Tech es una empresa nacional especializada en la importación y comercialización de hardware de computación de alto desempeño. Operan tanto en tienda física como a través de su plataforma online.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182112"/>
            <a:ext cx="1261872" cy="1444752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3273552"/>
            <a:ext cx="1261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WordPress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3867912"/>
            <a:ext cx="1261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Plataforma actual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874520" y="3182112"/>
            <a:ext cx="1261872" cy="1444752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1874520" y="3273552"/>
            <a:ext cx="1261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WooCommerce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874520" y="3867912"/>
            <a:ext cx="1261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Motor e-commerce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91840" y="3182112"/>
            <a:ext cx="1261872" cy="1444752"/>
          </a:xfrm>
          <a:prstGeom prst="roundRect">
            <a:avLst>
              <a:gd fmla="val 5797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91840" y="3273552"/>
            <a:ext cx="1261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91840" y="3867912"/>
            <a:ext cx="12618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Sin sistema de control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800600" y="1170432"/>
            <a:ext cx="3931920" cy="1115568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800600" y="1170432"/>
            <a:ext cx="164592" cy="1115568"/>
          </a:xfrm>
          <a:prstGeom prst="roundRect">
            <a:avLst>
              <a:gd fmla="val 3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882896" y="1170432"/>
            <a:ext cx="91440" cy="111556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120640" y="126187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Hardware Premium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120640" y="1645920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Componentes de alto rendimiento para gamers y profesionales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800600" y="2432304"/>
            <a:ext cx="3931920" cy="1115568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4800600" y="2432304"/>
            <a:ext cx="164592" cy="1115568"/>
          </a:xfrm>
          <a:prstGeom prst="roundRect">
            <a:avLst>
              <a:gd fmla="val 3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882896" y="2432304"/>
            <a:ext cx="91440" cy="111556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5120640" y="2523744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Presencia Digital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120640" y="2907792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E-commerce activo con </a:t>
            </a:r>
            <a:r>
              <a:rPr lang="en-US" sz="100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cientos </a:t>
            </a:r>
            <a:r>
              <a:rPr b="0" i="0" lang="en-US" sz="100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de productos en catálogo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00600" y="3694176"/>
            <a:ext cx="3931920" cy="1115568"/>
          </a:xfrm>
          <a:prstGeom prst="roundRect">
            <a:avLst>
              <a:gd fmla="val 8197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00600" y="3694176"/>
            <a:ext cx="164592" cy="1115568"/>
          </a:xfrm>
          <a:prstGeom prst="roundRect">
            <a:avLst>
              <a:gd fmla="val 3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882896" y="3694176"/>
            <a:ext cx="91440" cy="1115568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120640" y="3785616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En crecimiento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120640" y="4169664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Plataforma que necesita escalar a la demanda del mercado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-1097280" y="2926080"/>
            <a:ext cx="4114800" cy="4114800"/>
          </a:xfrm>
          <a:prstGeom prst="ellipse">
            <a:avLst/>
          </a:prstGeom>
          <a:solidFill>
            <a:srgbClr val="F87171">
              <a:alpha val="7843"/>
            </a:srgbClr>
          </a:solidFill>
          <a:ln cap="flat" cmpd="sng" w="12700">
            <a:solidFill>
              <a:srgbClr val="F87171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7772400" y="-914400"/>
            <a:ext cx="3200400" cy="3200400"/>
          </a:xfrm>
          <a:prstGeom prst="ellipse">
            <a:avLst/>
          </a:prstGeom>
          <a:solidFill>
            <a:srgbClr val="34D399">
              <a:alpha val="7843"/>
            </a:srgbClr>
          </a:solidFill>
          <a:ln cap="flat" cmpd="sng" w="12700">
            <a:solidFill>
              <a:srgbClr val="34D399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48640" y="25603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594360"/>
            <a:ext cx="8046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estaba fallando?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5603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"/>
          <p:cNvSpPr/>
          <p:nvPr/>
        </p:nvSpPr>
        <p:spPr>
          <a:xfrm>
            <a:off x="457200" y="1463040"/>
            <a:ext cx="2651760" cy="3337560"/>
          </a:xfrm>
          <a:prstGeom prst="roundRect">
            <a:avLst>
              <a:gd fmla="val 4138" name="adj"/>
            </a:avLst>
          </a:prstGeom>
          <a:solidFill>
            <a:srgbClr val="27272A"/>
          </a:solidFill>
          <a:ln cap="flat" cmpd="sng" w="190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21792" y="162763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1792" y="2212848"/>
            <a:ext cx="2331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Plataforma tecnológicamente limitada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21792" y="2971800"/>
            <a:ext cx="2331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WordPress/WooCommerce con plugins desactualizados: lentitud, errores y mala experiencia de compra.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310128" y="1463040"/>
            <a:ext cx="2651760" cy="3337560"/>
          </a:xfrm>
          <a:prstGeom prst="roundRect">
            <a:avLst>
              <a:gd fmla="val 4138" name="adj"/>
            </a:avLst>
          </a:prstGeom>
          <a:solidFill>
            <a:srgbClr val="27272A"/>
          </a:solidFill>
          <a:ln cap="flat" cmpd="sng" w="1905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3474720" y="162763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474720" y="2212848"/>
            <a:ext cx="2331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de Facturación Limitado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474720" y="2971800"/>
            <a:ext cx="2331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Sin integración con API Lioren: 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roceso lento, propenso a errores y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 no adaptado a 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necesidades de la empresa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163056" y="1463040"/>
            <a:ext cx="2651760" cy="3337560"/>
          </a:xfrm>
          <a:prstGeom prst="roundRect">
            <a:avLst>
              <a:gd fmla="val 4138" name="adj"/>
            </a:avLst>
          </a:prstGeom>
          <a:solidFill>
            <a:srgbClr val="27272A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327648" y="1627632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327648" y="2212848"/>
            <a:ext cx="2331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Cotización 100% manual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327648" y="2971800"/>
            <a:ext cx="23317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Las cotizaciones eran generadas por el trabajador de la empresa, en vez del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272A"/>
          </a:solidFill>
          <a:ln cap="flat" cmpd="sng" w="127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457200" y="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NUESTRA SOLUCIÓN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Tres pilares de transformación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47472" y="1115568"/>
            <a:ext cx="2798064" cy="3749040"/>
          </a:xfrm>
          <a:prstGeom prst="roundRect">
            <a:avLst>
              <a:gd fmla="val 4575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47472" y="1115568"/>
            <a:ext cx="2798064" cy="841248"/>
          </a:xfrm>
          <a:prstGeom prst="roundRect">
            <a:avLst>
              <a:gd fmla="val 15217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47472" y="1572768"/>
            <a:ext cx="2798064" cy="384048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47472" y="1152144"/>
            <a:ext cx="279806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84632" y="202996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Optimización de Plataforma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30352" y="2761488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Rendimiento y disponibilidad del sitio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30352" y="3438144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Plugins y arquitectura base mejorada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30352" y="4114800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Diseño responsivo y UX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310128" y="1115568"/>
            <a:ext cx="2798064" cy="3749040"/>
          </a:xfrm>
          <a:prstGeom prst="roundRect">
            <a:avLst>
              <a:gd fmla="val 4575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310128" y="1115568"/>
            <a:ext cx="2798064" cy="841248"/>
          </a:xfrm>
          <a:prstGeom prst="roundRect">
            <a:avLst>
              <a:gd fmla="val 15217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310128" y="1572768"/>
            <a:ext cx="2798064" cy="38404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310128" y="1152144"/>
            <a:ext cx="279806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447288" y="202996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493008" y="2761488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Rediseño del configurador de PC’s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493008" y="3438144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Filtro 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optimizado de p</a:t>
            </a: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roductos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493008" y="4114800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Cotización online integrada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272784" y="1115568"/>
            <a:ext cx="2798064" cy="3749040"/>
          </a:xfrm>
          <a:prstGeom prst="roundRect">
            <a:avLst>
              <a:gd fmla="val 4575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272784" y="1115568"/>
            <a:ext cx="2798064" cy="841248"/>
          </a:xfrm>
          <a:prstGeom prst="roundRect">
            <a:avLst>
              <a:gd fmla="val 15217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272784" y="1572768"/>
            <a:ext cx="2798064" cy="384048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272784" y="1152144"/>
            <a:ext cx="279806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09944" y="2029968"/>
            <a:ext cx="2523744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181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8181B"/>
                </a:solidFill>
                <a:latin typeface="Calibri"/>
                <a:ea typeface="Calibri"/>
                <a:cs typeface="Calibri"/>
                <a:sym typeface="Calibri"/>
              </a:rPr>
              <a:t>Automatización de Procesos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55664" y="2761488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Módulo de facturación API Lioren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455664" y="3438144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Seguimiento de 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DTEs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455664" y="4114800"/>
            <a:ext cx="245059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Documentos de respaldo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34D399">
              <a:alpha val="7843"/>
            </a:srgbClr>
          </a:solidFill>
          <a:ln cap="flat" cmpd="sng" w="12700">
            <a:solidFill>
              <a:srgbClr val="34D399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48640" y="256032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48640" y="594360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Scrum: el marco que guió 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56032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365760" y="1371600"/>
            <a:ext cx="3931920" cy="3520440"/>
          </a:xfrm>
          <a:prstGeom prst="roundRect">
            <a:avLst>
              <a:gd fmla="val 3117" name="adj"/>
            </a:avLst>
          </a:prstGeom>
          <a:solidFill>
            <a:srgbClr val="27272A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2700000" dist="508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530352" y="1481328"/>
            <a:ext cx="363931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Marco de Trabajo Scrum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66928" y="2011680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50976" y="1984248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 Sprints de 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 semanas 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cada uno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66928" y="2542032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950976" y="2514600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Backlog priorizado por el Product Owner </a:t>
            </a:r>
            <a:r>
              <a:rPr lang="en-US" sz="105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y Scrum 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66928" y="3072384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50976" y="3044952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Sprint Planning, Daily Scrum, Review y Retrospectiva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66928" y="3602736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950976" y="3575304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Entrega </a:t>
            </a: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incremental de funcionalidades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66928" y="4133088"/>
            <a:ext cx="256032" cy="256032"/>
          </a:xfrm>
          <a:prstGeom prst="roundRect">
            <a:avLst>
              <a:gd fmla="val 14286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950976" y="4105656"/>
            <a:ext cx="3200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Revisión continua con el cliente RS Tech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480560" y="1371600"/>
            <a:ext cx="4315968" cy="768096"/>
          </a:xfrm>
          <a:prstGeom prst="roundRect">
            <a:avLst>
              <a:gd fmla="val 11905" name="adj"/>
            </a:avLst>
          </a:prstGeom>
          <a:solidFill>
            <a:srgbClr val="27272A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480560" y="1371600"/>
            <a:ext cx="1234440" cy="768096"/>
          </a:xfrm>
          <a:prstGeom prst="roundRect">
            <a:avLst>
              <a:gd fmla="val 11905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166360" y="1371600"/>
            <a:ext cx="548640" cy="768096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07992" y="1389888"/>
            <a:ext cx="11704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760720" y="142646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Manuel Reyes Bustos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760720" y="1719072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Define y prioriza requerimientos.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Comunicación con stakeholders.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480560" y="2221992"/>
            <a:ext cx="4315968" cy="768096"/>
          </a:xfrm>
          <a:prstGeom prst="roundRect">
            <a:avLst>
              <a:gd fmla="val 11905" name="adj"/>
            </a:avLst>
          </a:prstGeom>
          <a:solidFill>
            <a:srgbClr val="27272A"/>
          </a:solidFill>
          <a:ln cap="flat" cmpd="sng" w="15225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480560" y="2221992"/>
            <a:ext cx="1234440" cy="768096"/>
          </a:xfrm>
          <a:prstGeom prst="roundRect">
            <a:avLst>
              <a:gd fmla="val 11905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166360" y="2221992"/>
            <a:ext cx="548640" cy="768096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507992" y="2240280"/>
            <a:ext cx="11704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 Master + Dev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60720" y="227685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Alex Caica Zamora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760720" y="2569464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Facilita la metodología Scrum.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Implementa funcionalidades y QA.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480560" y="3072384"/>
            <a:ext cx="4315968" cy="768096"/>
          </a:xfrm>
          <a:prstGeom prst="roundRect">
            <a:avLst>
              <a:gd fmla="val 11905" name="adj"/>
            </a:avLst>
          </a:prstGeom>
          <a:solidFill>
            <a:srgbClr val="27272A"/>
          </a:solidFill>
          <a:ln cap="flat" cmpd="sng" w="15225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480560" y="3072384"/>
            <a:ext cx="1234440" cy="768096"/>
          </a:xfrm>
          <a:prstGeom prst="roundRect">
            <a:avLst>
              <a:gd fmla="val 11905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166360" y="3072384"/>
            <a:ext cx="548640" cy="768096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4507992" y="3090672"/>
            <a:ext cx="11704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760720" y="31272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Renato Ortega Ramos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760720" y="3419856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Lógica del sistema, servidores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y rendimiento en VM.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480560" y="3922776"/>
            <a:ext cx="4315968" cy="768096"/>
          </a:xfrm>
          <a:prstGeom prst="roundRect">
            <a:avLst>
              <a:gd fmla="val 11905" name="adj"/>
            </a:avLst>
          </a:prstGeom>
          <a:solidFill>
            <a:srgbClr val="2727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480560" y="3922776"/>
            <a:ext cx="1234440" cy="768096"/>
          </a:xfrm>
          <a:prstGeom prst="roundRect">
            <a:avLst>
              <a:gd fmla="val 1190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166360" y="3922776"/>
            <a:ext cx="548640" cy="76809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507992" y="3941064"/>
            <a:ext cx="11704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Developer / UX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760720" y="39776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Ángel Prado Correa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760720" y="4270248"/>
            <a:ext cx="2926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Diseño UI/UX, experiencia móvil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y pruebas de funcionalidad.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272A"/>
          </a:solidFill>
          <a:ln cap="flat" cmpd="sng" w="127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57200" y="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FUNCIONALIDADES CLAVE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Lo que entregamos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65760" y="1078992"/>
            <a:ext cx="4133088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365760" y="1078992"/>
            <a:ext cx="201168" cy="1828800"/>
          </a:xfrm>
          <a:prstGeom prst="roundRect">
            <a:avLst>
              <a:gd fmla="val 27273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20624" y="1078992"/>
            <a:ext cx="164700" cy="1828800"/>
          </a:xfrm>
          <a:prstGeom prst="rect">
            <a:avLst/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713232" y="12435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PC-Configurator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13232" y="1673352"/>
            <a:ext cx="36576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Rediseño completo. El usuario arma su equipo paso a paso con compatibilidad en tiempo real.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828032" y="1078992"/>
            <a:ext cx="4133088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828032" y="1078992"/>
            <a:ext cx="201168" cy="1828800"/>
          </a:xfrm>
          <a:prstGeom prst="roundRect">
            <a:avLst>
              <a:gd fmla="val 27273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4882896" y="1078992"/>
            <a:ext cx="164592" cy="18288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175504" y="124358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Filtro NexTech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175504" y="1673352"/>
            <a:ext cx="36576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Filtro avanzado 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de productos en stock. Facilita la selección por parte del cliente.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5760" y="3090672"/>
            <a:ext cx="4133088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65760" y="3090672"/>
            <a:ext cx="201168" cy="1828800"/>
          </a:xfrm>
          <a:prstGeom prst="roundRect">
            <a:avLst>
              <a:gd fmla="val 27273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20624" y="3090672"/>
            <a:ext cx="164592" cy="18288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713232" y="325526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Módulo de Facturación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13232" y="3685032"/>
            <a:ext cx="36576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Integración con API Lioren: 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eguimiento y clasificación de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 facturas y boletas electrónicas</a:t>
            </a:r>
            <a:r>
              <a:rPr b="0" i="0" lang="en-US" sz="1050" u="none" cap="none" strike="noStrike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828032" y="3090672"/>
            <a:ext cx="4133088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E4E4E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4828032" y="3090672"/>
            <a:ext cx="201168" cy="1828800"/>
          </a:xfrm>
          <a:prstGeom prst="roundRect">
            <a:avLst>
              <a:gd fmla="val 27273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4882896" y="3090672"/>
            <a:ext cx="164592" cy="1828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5175504" y="325526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Cotización 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175504" y="3685032"/>
            <a:ext cx="36576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2525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050">
                <a:solidFill>
                  <a:srgbClr val="52525B"/>
                </a:solidFill>
                <a:latin typeface="Calibri"/>
                <a:ea typeface="Calibri"/>
                <a:cs typeface="Calibri"/>
                <a:sym typeface="Calibri"/>
              </a:rPr>
              <a:t>ódulo para solicitar presupuestos de productos seleccionados desde el sitio.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08126cddb_2_7"/>
          <p:cNvSpPr/>
          <p:nvPr/>
        </p:nvSpPr>
        <p:spPr>
          <a:xfrm>
            <a:off x="502920" y="73152"/>
            <a:ext cx="777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ARQUITECTURA TÉCNICA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f08126cddb_2_7"/>
          <p:cNvSpPr/>
          <p:nvPr/>
        </p:nvSpPr>
        <p:spPr>
          <a:xfrm>
            <a:off x="502920" y="292608"/>
            <a:ext cx="777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NexTech — flujo completo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g3f08126cddb_2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0" y="45720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08126cddb_2_7"/>
          <p:cNvSpPr/>
          <p:nvPr/>
        </p:nvSpPr>
        <p:spPr>
          <a:xfrm>
            <a:off x="137160" y="786384"/>
            <a:ext cx="1572900" cy="4206300"/>
          </a:xfrm>
          <a:prstGeom prst="roundRect">
            <a:avLst>
              <a:gd fmla="val 5814" name="adj"/>
            </a:avLst>
          </a:prstGeom>
          <a:solidFill>
            <a:srgbClr val="110E00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08126cddb_2_7"/>
          <p:cNvSpPr/>
          <p:nvPr/>
        </p:nvSpPr>
        <p:spPr>
          <a:xfrm>
            <a:off x="137160" y="832104"/>
            <a:ext cx="157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PRESENTACIÓN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f08126cddb_2_7"/>
          <p:cNvSpPr/>
          <p:nvPr/>
        </p:nvSpPr>
        <p:spPr>
          <a:xfrm>
            <a:off x="228600" y="1088136"/>
            <a:ext cx="1389900" cy="1956900"/>
          </a:xfrm>
          <a:prstGeom prst="roundRect">
            <a:avLst>
              <a:gd fmla="val 4605" name="adj"/>
            </a:avLst>
          </a:prstGeom>
          <a:solidFill>
            <a:srgbClr val="1A1300"/>
          </a:solidFill>
          <a:ln cap="flat" cmpd="sng" w="139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f08126cddb_2_7"/>
          <p:cNvSpPr/>
          <p:nvPr/>
        </p:nvSpPr>
        <p:spPr>
          <a:xfrm>
            <a:off x="265176" y="1124712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★ </a:t>
            </a:r>
            <a:r>
              <a:rPr b="1" lang="en-US" sz="65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Módulo de </a:t>
            </a:r>
            <a:r>
              <a:rPr b="1" i="0" lang="en-US" sz="6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Factura</a:t>
            </a:r>
            <a:r>
              <a:rPr b="1" lang="en-US" sz="65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ción</a:t>
            </a:r>
            <a:r>
              <a:rPr b="1" i="0" lang="en-US" sz="6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 (AWS)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f08126cddb_2_7"/>
          <p:cNvSpPr/>
          <p:nvPr/>
        </p:nvSpPr>
        <p:spPr>
          <a:xfrm>
            <a:off x="265176" y="1325880"/>
            <a:ext cx="131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19.2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f08126cddb_2_7"/>
          <p:cNvSpPr/>
          <p:nvPr/>
        </p:nvSpPr>
        <p:spPr>
          <a:xfrm>
            <a:off x="265176" y="1600200"/>
            <a:ext cx="131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Vite 8.0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f08126cddb_2_7"/>
          <p:cNvSpPr/>
          <p:nvPr/>
        </p:nvSpPr>
        <p:spPr>
          <a:xfrm>
            <a:off x="265176" y="1865376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React Router v7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f08126cddb_2_7"/>
          <p:cNvSpPr/>
          <p:nvPr/>
        </p:nvSpPr>
        <p:spPr>
          <a:xfrm>
            <a:off x="265176" y="2103120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Axios + JWT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08126cddb_2_7"/>
          <p:cNvSpPr/>
          <p:nvPr/>
        </p:nvSpPr>
        <p:spPr>
          <a:xfrm>
            <a:off x="265176" y="2340864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TanStack Query v5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f08126cddb_2_7"/>
          <p:cNvSpPr/>
          <p:nvPr/>
        </p:nvSpPr>
        <p:spPr>
          <a:xfrm>
            <a:off x="265176" y="2578608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Zustand v5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f08126cddb_2_7"/>
          <p:cNvSpPr/>
          <p:nvPr/>
        </p:nvSpPr>
        <p:spPr>
          <a:xfrm>
            <a:off x="228600" y="3118104"/>
            <a:ext cx="1389900" cy="1097400"/>
          </a:xfrm>
          <a:prstGeom prst="roundRect">
            <a:avLst>
              <a:gd fmla="val 5833" name="adj"/>
            </a:avLst>
          </a:prstGeom>
          <a:solidFill>
            <a:srgbClr val="27272A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08126cddb_2_7"/>
          <p:cNvSpPr/>
          <p:nvPr/>
        </p:nvSpPr>
        <p:spPr>
          <a:xfrm>
            <a:off x="265176" y="3163824"/>
            <a:ext cx="1316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WordPress + Flatsome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08126cddb_2_7"/>
          <p:cNvSpPr/>
          <p:nvPr/>
        </p:nvSpPr>
        <p:spPr>
          <a:xfrm>
            <a:off x="265176" y="3401568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rstech.cl  •  Sitio público del cliente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f08126cddb_2_7"/>
          <p:cNvSpPr/>
          <p:nvPr/>
        </p:nvSpPr>
        <p:spPr>
          <a:xfrm>
            <a:off x="265176" y="3602736"/>
            <a:ext cx="1316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PHP / WooCommerce / Flatsome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08126cddb_2_7"/>
          <p:cNvSpPr/>
          <p:nvPr/>
        </p:nvSpPr>
        <p:spPr>
          <a:xfrm>
            <a:off x="228600" y="4334256"/>
            <a:ext cx="138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Admin / Cliente  •  HTTPS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f08126cddb_2_7"/>
          <p:cNvSpPr/>
          <p:nvPr/>
        </p:nvSpPr>
        <p:spPr>
          <a:xfrm>
            <a:off x="1728216" y="2048256"/>
            <a:ext cx="9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f08126cddb_2_7"/>
          <p:cNvSpPr/>
          <p:nvPr/>
        </p:nvSpPr>
        <p:spPr>
          <a:xfrm>
            <a:off x="1728216" y="3438144"/>
            <a:ext cx="9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f08126cddb_2_7"/>
          <p:cNvSpPr/>
          <p:nvPr/>
        </p:nvSpPr>
        <p:spPr>
          <a:xfrm>
            <a:off x="1837944" y="786384"/>
            <a:ext cx="4773300" cy="4206300"/>
          </a:xfrm>
          <a:prstGeom prst="roundRect">
            <a:avLst>
              <a:gd fmla="val 2174" name="adj"/>
            </a:avLst>
          </a:prstGeom>
          <a:solidFill>
            <a:srgbClr val="071510"/>
          </a:solidFill>
          <a:ln cap="flat" cmpd="sng" w="1905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08126cddb_2_7"/>
          <p:cNvSpPr/>
          <p:nvPr/>
        </p:nvSpPr>
        <p:spPr>
          <a:xfrm>
            <a:off x="1837944" y="822960"/>
            <a:ext cx="477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CAPA DE NEGOCIO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08126cddb_2_7"/>
          <p:cNvSpPr/>
          <p:nvPr/>
        </p:nvSpPr>
        <p:spPr>
          <a:xfrm>
            <a:off x="1984248" y="987552"/>
            <a:ext cx="585300" cy="201300"/>
          </a:xfrm>
          <a:prstGeom prst="roundRect">
            <a:avLst>
              <a:gd fmla="val 18182" name="adj"/>
            </a:avLst>
          </a:prstGeom>
          <a:solidFill>
            <a:srgbClr val="1A0F00"/>
          </a:solidFill>
          <a:ln cap="flat" cmpd="sng" w="101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f08126cddb_2_7"/>
          <p:cNvSpPr/>
          <p:nvPr/>
        </p:nvSpPr>
        <p:spPr>
          <a:xfrm>
            <a:off x="2002536" y="1005840"/>
            <a:ext cx="548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08126cddb_2_7"/>
          <p:cNvSpPr/>
          <p:nvPr/>
        </p:nvSpPr>
        <p:spPr>
          <a:xfrm>
            <a:off x="2660904" y="987552"/>
            <a:ext cx="1042500" cy="201300"/>
          </a:xfrm>
          <a:prstGeom prst="roundRect">
            <a:avLst>
              <a:gd fmla="val 18182" name="adj"/>
            </a:avLst>
          </a:prstGeom>
          <a:solidFill>
            <a:srgbClr val="00071A"/>
          </a:solidFill>
          <a:ln cap="flat" cmpd="sng" w="101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08126cddb_2_7"/>
          <p:cNvSpPr/>
          <p:nvPr/>
        </p:nvSpPr>
        <p:spPr>
          <a:xfrm>
            <a:off x="2679192" y="1005840"/>
            <a:ext cx="1005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600"/>
              <a:buFont typeface="Calibri"/>
              <a:buNone/>
            </a:pPr>
            <a:r>
              <a:rPr b="1" i="0" lang="en-US" sz="6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08126cddb_2_7"/>
          <p:cNvSpPr/>
          <p:nvPr/>
        </p:nvSpPr>
        <p:spPr>
          <a:xfrm>
            <a:off x="1938528" y="1243584"/>
            <a:ext cx="2541900" cy="1682400"/>
          </a:xfrm>
          <a:prstGeom prst="roundRect">
            <a:avLst>
              <a:gd fmla="val 4348" name="adj"/>
            </a:avLst>
          </a:prstGeom>
          <a:solidFill>
            <a:srgbClr val="27272A"/>
          </a:solidFill>
          <a:ln cap="flat" cmpd="sng" w="152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08126cddb_2_7"/>
          <p:cNvSpPr/>
          <p:nvPr/>
        </p:nvSpPr>
        <p:spPr>
          <a:xfrm>
            <a:off x="2029968" y="1280160"/>
            <a:ext cx="235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★ Spring Boot API  (</a:t>
            </a:r>
            <a:r>
              <a:rPr b="1" lang="en-US" sz="65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AWS</a:t>
            </a:r>
            <a:r>
              <a:rPr b="1" i="0" lang="en-US" sz="65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f08126cddb_2_7"/>
          <p:cNvSpPr/>
          <p:nvPr/>
        </p:nvSpPr>
        <p:spPr>
          <a:xfrm>
            <a:off x="2029968" y="1481328"/>
            <a:ext cx="235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Spring Boot 3.3.5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f08126cddb_2_7"/>
          <p:cNvSpPr/>
          <p:nvPr/>
        </p:nvSpPr>
        <p:spPr>
          <a:xfrm>
            <a:off x="2029968" y="1792224"/>
            <a:ext cx="235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• Java 17 • Maven • Lombok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f08126cddb_2_7"/>
          <p:cNvSpPr/>
          <p:nvPr/>
        </p:nvSpPr>
        <p:spPr>
          <a:xfrm>
            <a:off x="2029968" y="2048256"/>
            <a:ext cx="235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• Spring Security + JWT 0.12.6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f08126cddb_2_7"/>
          <p:cNvSpPr/>
          <p:nvPr/>
        </p:nvSpPr>
        <p:spPr>
          <a:xfrm>
            <a:off x="2029968" y="2304288"/>
            <a:ext cx="235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• Spring Data JPA + WebFlux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08126cddb_2_7"/>
          <p:cNvSpPr/>
          <p:nvPr/>
        </p:nvSpPr>
        <p:spPr>
          <a:xfrm>
            <a:off x="2029968" y="2560320"/>
            <a:ext cx="2359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• JDBC → PostgreSQL Neon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08126cddb_2_7"/>
          <p:cNvSpPr/>
          <p:nvPr/>
        </p:nvSpPr>
        <p:spPr>
          <a:xfrm>
            <a:off x="4626864" y="1243584"/>
            <a:ext cx="1883700" cy="1682400"/>
          </a:xfrm>
          <a:prstGeom prst="roundRect">
            <a:avLst>
              <a:gd fmla="val 4348" name="adj"/>
            </a:avLst>
          </a:prstGeom>
          <a:solidFill>
            <a:srgbClr val="1A0808"/>
          </a:solidFill>
          <a:ln cap="flat" cmpd="sng" w="15225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08126cddb_2_7"/>
          <p:cNvSpPr/>
          <p:nvPr/>
        </p:nvSpPr>
        <p:spPr>
          <a:xfrm>
            <a:off x="4718304" y="1280160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Lioren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08126cddb_2_7"/>
          <p:cNvSpPr/>
          <p:nvPr/>
        </p:nvSpPr>
        <p:spPr>
          <a:xfrm>
            <a:off x="4718304" y="1499616"/>
            <a:ext cx="1700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Externa — SII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08126cddb_2_7"/>
          <p:cNvSpPr/>
          <p:nvPr/>
        </p:nvSpPr>
        <p:spPr>
          <a:xfrm>
            <a:off x="4718304" y="1773936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DTE + Facturas SII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08126cddb_2_7"/>
          <p:cNvSpPr/>
          <p:nvPr/>
        </p:nvSpPr>
        <p:spPr>
          <a:xfrm>
            <a:off x="4718304" y="2029968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Spring WebFlux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08126cddb_2_7"/>
          <p:cNvSpPr/>
          <p:nvPr/>
        </p:nvSpPr>
        <p:spPr>
          <a:xfrm>
            <a:off x="4718304" y="2286000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WebClient / HTTP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08126cddb_2_7"/>
          <p:cNvSpPr/>
          <p:nvPr/>
        </p:nvSpPr>
        <p:spPr>
          <a:xfrm>
            <a:off x="4718304" y="2542032"/>
            <a:ext cx="1700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Sincroniza facturas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f08126cddb_2_7"/>
          <p:cNvSpPr/>
          <p:nvPr/>
        </p:nvSpPr>
        <p:spPr>
          <a:xfrm>
            <a:off x="1938525" y="2971775"/>
            <a:ext cx="4572300" cy="420600"/>
          </a:xfrm>
          <a:prstGeom prst="roundRect">
            <a:avLst>
              <a:gd fmla="val 10000" name="adj"/>
            </a:avLst>
          </a:prstGeom>
          <a:solidFill>
            <a:srgbClr val="27272A"/>
          </a:solidFill>
          <a:ln cap="flat" cmpd="sng" w="139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f08126cddb_2_7"/>
          <p:cNvSpPr/>
          <p:nvPr/>
        </p:nvSpPr>
        <p:spPr>
          <a:xfrm>
            <a:off x="2048254" y="3019828"/>
            <a:ext cx="43524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WordPress 6.x + WooCommerce  |  PHP 8.2 + Nginx  |  Google 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08126cddb_2_7"/>
          <p:cNvSpPr/>
          <p:nvPr/>
        </p:nvSpPr>
        <p:spPr>
          <a:xfrm>
            <a:off x="2048254" y="3188014"/>
            <a:ext cx="43524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Motor de ventas — catálogo, pedidos, cotizaciones, WP API REST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08126cddb_2_7"/>
          <p:cNvSpPr/>
          <p:nvPr/>
        </p:nvSpPr>
        <p:spPr>
          <a:xfrm>
            <a:off x="1938528" y="3438144"/>
            <a:ext cx="1481400" cy="1499700"/>
          </a:xfrm>
          <a:prstGeom prst="roundRect">
            <a:avLst>
              <a:gd fmla="val 4321" name="adj"/>
            </a:avLst>
          </a:prstGeom>
          <a:solidFill>
            <a:srgbClr val="0D1F36"/>
          </a:solidFill>
          <a:ln cap="flat" cmpd="sng" w="139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08126cddb_2_7"/>
          <p:cNvSpPr/>
          <p:nvPr/>
        </p:nvSpPr>
        <p:spPr>
          <a:xfrm>
            <a:off x="2011680" y="3520440"/>
            <a:ext cx="1335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580"/>
              <a:buFont typeface="Calibri"/>
              <a:buNone/>
            </a:pPr>
            <a:r>
              <a:rPr b="1" i="0" lang="en-US" sz="58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★ PLUGIN PROPIO</a:t>
            </a:r>
            <a:endParaRPr b="0" i="0" sz="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f08126cddb_2_7"/>
          <p:cNvSpPr/>
          <p:nvPr/>
        </p:nvSpPr>
        <p:spPr>
          <a:xfrm>
            <a:off x="2011680" y="3703320"/>
            <a:ext cx="133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 Gamer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Configurator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08126cddb_2_7"/>
          <p:cNvSpPr/>
          <p:nvPr/>
        </p:nvSpPr>
        <p:spPr>
          <a:xfrm>
            <a:off x="2011680" y="42062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Compatibilidad piezas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08126cddb_2_7"/>
          <p:cNvSpPr/>
          <p:nvPr/>
        </p:nvSpPr>
        <p:spPr>
          <a:xfrm>
            <a:off x="2011680" y="44348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Precio dinámico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f08126cddb_2_7"/>
          <p:cNvSpPr/>
          <p:nvPr/>
        </p:nvSpPr>
        <p:spPr>
          <a:xfrm>
            <a:off x="2011680" y="46634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WP Hooks nativos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f08126cddb_2_7"/>
          <p:cNvSpPr/>
          <p:nvPr/>
        </p:nvSpPr>
        <p:spPr>
          <a:xfrm>
            <a:off x="3483864" y="3438144"/>
            <a:ext cx="1481400" cy="1499700"/>
          </a:xfrm>
          <a:prstGeom prst="roundRect">
            <a:avLst>
              <a:gd fmla="val 4321" name="adj"/>
            </a:avLst>
          </a:prstGeom>
          <a:solidFill>
            <a:srgbClr val="0D1F36"/>
          </a:solidFill>
          <a:ln cap="flat" cmpd="sng" w="139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f08126cddb_2_7"/>
          <p:cNvSpPr/>
          <p:nvPr/>
        </p:nvSpPr>
        <p:spPr>
          <a:xfrm>
            <a:off x="3557016" y="3520440"/>
            <a:ext cx="1335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580"/>
              <a:buFont typeface="Calibri"/>
              <a:buNone/>
            </a:pPr>
            <a:r>
              <a:rPr b="1" i="0" lang="en-US" sz="58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★ PLUGIN PROPIO</a:t>
            </a:r>
            <a:endParaRPr b="0" i="0" sz="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08126cddb_2_7"/>
          <p:cNvSpPr/>
          <p:nvPr/>
        </p:nvSpPr>
        <p:spPr>
          <a:xfrm>
            <a:off x="3557016" y="3703320"/>
            <a:ext cx="133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NexTech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Filter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f08126cddb_2_7"/>
          <p:cNvSpPr/>
          <p:nvPr/>
        </p:nvSpPr>
        <p:spPr>
          <a:xfrm>
            <a:off x="3557016" y="42062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WP API REST + Caché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08126cddb_2_7"/>
          <p:cNvSpPr/>
          <p:nvPr/>
        </p:nvSpPr>
        <p:spPr>
          <a:xfrm>
            <a:off x="3557016" y="44348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Sidebar dinámico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08126cddb_2_7"/>
          <p:cNvSpPr/>
          <p:nvPr/>
        </p:nvSpPr>
        <p:spPr>
          <a:xfrm>
            <a:off x="3557016" y="46634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SQL custom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08126cddb_2_7"/>
          <p:cNvSpPr/>
          <p:nvPr/>
        </p:nvSpPr>
        <p:spPr>
          <a:xfrm>
            <a:off x="5029200" y="3438144"/>
            <a:ext cx="1481400" cy="1499700"/>
          </a:xfrm>
          <a:prstGeom prst="roundRect">
            <a:avLst>
              <a:gd fmla="val 4321" name="adj"/>
            </a:avLst>
          </a:prstGeom>
          <a:solidFill>
            <a:srgbClr val="0D1F36"/>
          </a:solidFill>
          <a:ln cap="flat" cmpd="sng" w="1395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08126cddb_2_7"/>
          <p:cNvSpPr/>
          <p:nvPr/>
        </p:nvSpPr>
        <p:spPr>
          <a:xfrm>
            <a:off x="5102352" y="3520440"/>
            <a:ext cx="1335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580"/>
              <a:buFont typeface="Calibri"/>
              <a:buNone/>
            </a:pPr>
            <a:r>
              <a:rPr b="1" i="0" lang="en-US" sz="58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★ PLUGIN PROPIO</a:t>
            </a:r>
            <a:endParaRPr b="0" i="0" sz="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f08126cddb_2_7"/>
          <p:cNvSpPr/>
          <p:nvPr/>
        </p:nvSpPr>
        <p:spPr>
          <a:xfrm>
            <a:off x="5102352" y="3703320"/>
            <a:ext cx="1335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Cotización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f08126cddb_2_7"/>
          <p:cNvSpPr/>
          <p:nvPr/>
        </p:nvSpPr>
        <p:spPr>
          <a:xfrm>
            <a:off x="5102352" y="42062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Presupuesto online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f08126cddb_2_7"/>
          <p:cNvSpPr/>
          <p:nvPr/>
        </p:nvSpPr>
        <p:spPr>
          <a:xfrm>
            <a:off x="5102352" y="44348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Lógica de precios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f08126cddb_2_7"/>
          <p:cNvSpPr/>
          <p:nvPr/>
        </p:nvSpPr>
        <p:spPr>
          <a:xfrm>
            <a:off x="5102352" y="4663440"/>
            <a:ext cx="1335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PDF / Email cotiz.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f08126cddb_2_7"/>
          <p:cNvSpPr/>
          <p:nvPr/>
        </p:nvSpPr>
        <p:spPr>
          <a:xfrm>
            <a:off x="6629400" y="1883664"/>
            <a:ext cx="14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f08126cddb_2_7"/>
          <p:cNvSpPr/>
          <p:nvPr/>
        </p:nvSpPr>
        <p:spPr>
          <a:xfrm>
            <a:off x="6629400" y="3529584"/>
            <a:ext cx="14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f08126cddb_2_7"/>
          <p:cNvSpPr/>
          <p:nvPr/>
        </p:nvSpPr>
        <p:spPr>
          <a:xfrm>
            <a:off x="6793992" y="786384"/>
            <a:ext cx="2075700" cy="4206300"/>
          </a:xfrm>
          <a:prstGeom prst="roundRect">
            <a:avLst>
              <a:gd fmla="val 4405" name="adj"/>
            </a:avLst>
          </a:prstGeom>
          <a:solidFill>
            <a:srgbClr val="060E1E"/>
          </a:solidFill>
          <a:ln cap="flat" cmpd="sng" w="1905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08126cddb_2_7"/>
          <p:cNvSpPr/>
          <p:nvPr/>
        </p:nvSpPr>
        <p:spPr>
          <a:xfrm>
            <a:off x="6793992" y="832104"/>
            <a:ext cx="2075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650"/>
              <a:buFont typeface="Calibri"/>
              <a:buNone/>
            </a:pPr>
            <a:r>
              <a:rPr b="1" i="0" lang="en-US" sz="65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CAPA DE DATOS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f08126cddb_2_7"/>
          <p:cNvSpPr/>
          <p:nvPr/>
        </p:nvSpPr>
        <p:spPr>
          <a:xfrm>
            <a:off x="6894576" y="1078992"/>
            <a:ext cx="1874400" cy="2030100"/>
          </a:xfrm>
          <a:prstGeom prst="roundRect">
            <a:avLst>
              <a:gd fmla="val 3902" name="adj"/>
            </a:avLst>
          </a:prstGeom>
          <a:solidFill>
            <a:srgbClr val="27272A"/>
          </a:solidFill>
          <a:ln cap="flat" cmpd="sng" w="15225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08126cddb_2_7"/>
          <p:cNvSpPr/>
          <p:nvPr/>
        </p:nvSpPr>
        <p:spPr>
          <a:xfrm>
            <a:off x="6986016" y="111556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3f08126cddb_2_7"/>
          <p:cNvSpPr/>
          <p:nvPr/>
        </p:nvSpPr>
        <p:spPr>
          <a:xfrm>
            <a:off x="6986016" y="1389888"/>
            <a:ext cx="169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+ Neon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f08126cddb_2_7"/>
          <p:cNvSpPr/>
          <p:nvPr/>
        </p:nvSpPr>
        <p:spPr>
          <a:xfrm>
            <a:off x="6986016" y="1682496"/>
            <a:ext cx="169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Cloud free tier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08126cddb_2_7"/>
          <p:cNvSpPr/>
          <p:nvPr/>
        </p:nvSpPr>
        <p:spPr>
          <a:xfrm>
            <a:off x="6986016" y="1956816"/>
            <a:ext cx="169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SSL + JDBC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08126cddb_2_7"/>
          <p:cNvSpPr/>
          <p:nvPr/>
        </p:nvSpPr>
        <p:spPr>
          <a:xfrm>
            <a:off x="6986016" y="2231136"/>
            <a:ext cx="169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Spring Data JPA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f08126cddb_2_7"/>
          <p:cNvSpPr/>
          <p:nvPr/>
        </p:nvSpPr>
        <p:spPr>
          <a:xfrm>
            <a:off x="6986016" y="2505456"/>
            <a:ext cx="169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Facturas y usuarios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f08126cddb_2_7"/>
          <p:cNvSpPr/>
          <p:nvPr/>
        </p:nvSpPr>
        <p:spPr>
          <a:xfrm>
            <a:off x="6986016" y="2779776"/>
            <a:ext cx="1691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Dashboard Admin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08126cddb_2_7"/>
          <p:cNvSpPr/>
          <p:nvPr/>
        </p:nvSpPr>
        <p:spPr>
          <a:xfrm>
            <a:off x="6894576" y="3182112"/>
            <a:ext cx="1874400" cy="1737300"/>
          </a:xfrm>
          <a:prstGeom prst="roundRect">
            <a:avLst>
              <a:gd fmla="val 4211" name="adj"/>
            </a:avLst>
          </a:prstGeom>
          <a:solidFill>
            <a:srgbClr val="27272A"/>
          </a:solidFill>
          <a:ln cap="flat" cmpd="sng" w="139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08126cddb_2_7"/>
          <p:cNvSpPr/>
          <p:nvPr/>
        </p:nvSpPr>
        <p:spPr>
          <a:xfrm>
            <a:off x="6986016" y="321868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MariaDB 10.x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08126cddb_2_7"/>
          <p:cNvSpPr/>
          <p:nvPr/>
        </p:nvSpPr>
        <p:spPr>
          <a:xfrm>
            <a:off x="6986016" y="3493008"/>
            <a:ext cx="169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Google 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08126cddb_2_7"/>
          <p:cNvSpPr/>
          <p:nvPr/>
        </p:nvSpPr>
        <p:spPr>
          <a:xfrm>
            <a:off x="6986016" y="3730752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utf8mb4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f08126cddb_2_7"/>
          <p:cNvSpPr/>
          <p:nvPr/>
        </p:nvSpPr>
        <p:spPr>
          <a:xfrm>
            <a:off x="6986016" y="3986784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WP / WooCommerce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f08126cddb_2_7"/>
          <p:cNvSpPr/>
          <p:nvPr/>
        </p:nvSpPr>
        <p:spPr>
          <a:xfrm>
            <a:off x="6986016" y="4242816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Pedidos y plugins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3f08126cddb_2_7"/>
          <p:cNvSpPr/>
          <p:nvPr/>
        </p:nvSpPr>
        <p:spPr>
          <a:xfrm>
            <a:off x="6986016" y="4498848"/>
            <a:ext cx="1691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1A1AA"/>
                </a:solidFill>
                <a:latin typeface="Calibri"/>
                <a:ea typeface="Calibri"/>
                <a:cs typeface="Calibri"/>
                <a:sym typeface="Calibri"/>
              </a:rPr>
              <a:t>• Cotizaciones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f08126cddb_2_7"/>
          <p:cNvSpPr/>
          <p:nvPr/>
        </p:nvSpPr>
        <p:spPr>
          <a:xfrm>
            <a:off x="137160" y="5010912"/>
            <a:ext cx="8778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★ Código propio  |  ▶ REST/JWT  |  ▶ WebClient (API externa)  |  ▶ JDBC/SSL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272A"/>
          </a:solidFill>
          <a:ln cap="flat" cmpd="sng" w="12700">
            <a:solidFill>
              <a:srgbClr val="272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57200" y="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REAL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7200" y="0"/>
            <a:ext cx="8412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¿Qué cambia para RS Tech?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246120" y="10972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989320" y="1097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DESPUÉS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20040" y="1481328"/>
            <a:ext cx="2834640" cy="1005840"/>
          </a:xfrm>
          <a:prstGeom prst="roundRect">
            <a:avLst>
              <a:gd fmla="val 9091" name="adj"/>
            </a:avLst>
          </a:prstGeom>
          <a:solidFill>
            <a:srgbClr val="1A56DB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320040" y="1481328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46120" y="1481328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3383280" y="1527048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Experiencia lenta y confusa, filtros deficientes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989320" y="1481328"/>
            <a:ext cx="2788920" cy="1005840"/>
          </a:xfrm>
          <a:prstGeom prst="roundRect">
            <a:avLst>
              <a:gd fmla="val 7273" name="adj"/>
            </a:avLst>
          </a:prstGeom>
          <a:solidFill>
            <a:srgbClr val="F0FDF4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126480" y="1527048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Navegación </a:t>
            </a:r>
            <a:r>
              <a:rPr lang="en-US" sz="95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fluida</a:t>
            </a: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, configurador intuitivo, cotización inmediata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20040" y="2633472"/>
            <a:ext cx="2834640" cy="1005840"/>
          </a:xfrm>
          <a:prstGeom prst="roundRect">
            <a:avLst>
              <a:gd fmla="val 9091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320040" y="2633472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Equipo Técnico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246120" y="2633472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3383280" y="2679192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Poco control de facturación y sistema con limitaciones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989320" y="2633472"/>
            <a:ext cx="2788920" cy="1005840"/>
          </a:xfrm>
          <a:prstGeom prst="roundRect">
            <a:avLst>
              <a:gd fmla="val 7273" name="adj"/>
            </a:avLst>
          </a:prstGeom>
          <a:solidFill>
            <a:srgbClr val="F0FDF4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6126480" y="2679192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Procesos </a:t>
            </a:r>
            <a:r>
              <a:rPr lang="en-US" sz="95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eficientes</a:t>
            </a: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, trazables y accesibles desde el panel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20040" y="3785616"/>
            <a:ext cx="2834640" cy="1005840"/>
          </a:xfrm>
          <a:prstGeom prst="roundRect">
            <a:avLst>
              <a:gd fmla="val 9091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320040" y="3785616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 Tech (Empresa)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246120" y="3785616"/>
            <a:ext cx="2606040" cy="1005840"/>
          </a:xfrm>
          <a:prstGeom prst="roundRect">
            <a:avLst>
              <a:gd fmla="val 7273" name="adj"/>
            </a:avLst>
          </a:prstGeom>
          <a:solidFill>
            <a:srgbClr val="FFF5F5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3383280" y="3831336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Plataforma que no soporta el crecimiento del negocio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989320" y="3785616"/>
            <a:ext cx="2788920" cy="1005840"/>
          </a:xfrm>
          <a:prstGeom prst="roundRect">
            <a:avLst>
              <a:gd fmla="val 7273" name="adj"/>
            </a:avLst>
          </a:prstGeom>
          <a:solidFill>
            <a:srgbClr val="F0FDF4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126480" y="3831336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Plataforma escalable, competitiva y con mayor rentabilidad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181B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27272A">
              <a:alpha val="70196"/>
            </a:srgbClr>
          </a:solidFill>
          <a:ln cap="flat" cmpd="sng" w="12700">
            <a:solidFill>
              <a:srgbClr val="27272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7132320" y="2926080"/>
            <a:ext cx="3657600" cy="3657600"/>
          </a:xfrm>
          <a:prstGeom prst="ellipse">
            <a:avLst/>
          </a:prstGeom>
          <a:solidFill>
            <a:srgbClr val="34D399">
              <a:alpha val="10196"/>
            </a:srgbClr>
          </a:solidFill>
          <a:ln cap="flat" cmpd="sng" w="12700">
            <a:solidFill>
              <a:srgbClr val="34D399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3" name="Google Shape;3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548640"/>
            <a:ext cx="2560320" cy="256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4" name="Google Shape;31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01168"/>
            <a:ext cx="1828800" cy="41330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548640" y="841248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 CONTINUACIÓN</a:t>
            </a:r>
            <a:r>
              <a:rPr b="1" lang="en-US" sz="95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950">
              <a:solidFill>
                <a:srgbClr val="34D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48640" y="1188720"/>
            <a:ext cx="5943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Demostración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Software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548640" y="2953502"/>
            <a:ext cx="274200" cy="274200"/>
          </a:xfrm>
          <a:prstGeom prst="roundRect">
            <a:avLst>
              <a:gd fmla="val 1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950976" y="292607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Sitio web RS Tech: mejoras de rendimiento y diseño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48640" y="3337550"/>
            <a:ext cx="274200" cy="274200"/>
          </a:xfrm>
          <a:prstGeom prst="roundRect">
            <a:avLst>
              <a:gd fmla="val 1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950976" y="3310118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PC-Configurator y Filtro NexTech en acción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48640" y="3721598"/>
            <a:ext cx="274200" cy="274200"/>
          </a:xfrm>
          <a:prstGeom prst="roundRect">
            <a:avLst>
              <a:gd fmla="val 1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950976" y="3694166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Flujo de cotización online por el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8640" y="4105646"/>
            <a:ext cx="274200" cy="274200"/>
          </a:xfrm>
          <a:prstGeom prst="roundRect">
            <a:avLst>
              <a:gd fmla="val 13333" name="adj"/>
            </a:avLst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950976" y="4078214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 de facturación integrado con API Lioren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2026-06-26T23:15:02Z</dcterms:created>
  <dc:creator>PptxGenJS</dc:creator>
</cp:coreProperties>
</file>